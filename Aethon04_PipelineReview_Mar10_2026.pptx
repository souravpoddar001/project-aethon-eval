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874520"/>
            <a:ext cx="2194560" cy="1097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TECHNOLOGIES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2148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Pipeline Review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10, 2026   ·   Covering February 1 – March 10, 2026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4617720"/>
            <a:ext cx="3840480" cy="27432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4800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Diane Whitfield, Sales Operations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Priya Raman (VP Sales) · Marcus Chen (CFO) · Leo Tanaka (FP&amp;A)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  HubSpot CRM (portal 246118427) · Microsoft 365 mail, Feb 1 – Mar 10,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6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 / 09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68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737360" cy="9144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48840"/>
            <a:ext cx="2093976" cy="2971800"/>
          </a:xfrm>
          <a:prstGeom prst="roundRect">
            <a:avLst>
              <a:gd name="adj" fmla="val 2620"/>
            </a:avLst>
          </a:prstGeom>
          <a:solidFill>
            <a:srgbClr val="33527C"/>
          </a:solidFill>
          <a:ln w="12700">
            <a:solidFill>
              <a:srgbClr val="2B4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48840"/>
            <a:ext cx="2093976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441448"/>
            <a:ext cx="20939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9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CLOSED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08960"/>
            <a:ext cx="20939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$730K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640080" y="4142232"/>
            <a:ext cx="1728216" cy="18288"/>
          </a:xfrm>
          <a:prstGeom prst="rect">
            <a:avLst/>
          </a:prstGeom>
          <a:solidFill>
            <a:srgbClr val="45658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4279392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vs $600K target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626864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$574K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54173" y="2148840"/>
            <a:ext cx="2093976" cy="2971800"/>
          </a:xfrm>
          <a:prstGeom prst="roundRect">
            <a:avLst>
              <a:gd name="adj" fmla="val 2620"/>
            </a:avLst>
          </a:prstGeom>
          <a:solidFill>
            <a:srgbClr val="33527C"/>
          </a:solidFill>
          <a:ln w="12700">
            <a:solidFill>
              <a:srgbClr val="2B4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54173" y="2148840"/>
            <a:ext cx="2093976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754173" y="2441448"/>
            <a:ext cx="20939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9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(OPEN)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754173" y="3108960"/>
            <a:ext cx="20939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$3.5M</a:t>
            </a:r>
            <a:endParaRPr lang="en-US" sz="4000" dirty="0"/>
          </a:p>
        </p:txBody>
      </p:sp>
      <p:sp>
        <p:nvSpPr>
          <p:cNvPr id="16" name="Shape 14"/>
          <p:cNvSpPr/>
          <p:nvPr/>
        </p:nvSpPr>
        <p:spPr>
          <a:xfrm>
            <a:off x="2937053" y="4142232"/>
            <a:ext cx="1728216" cy="18288"/>
          </a:xfrm>
          <a:prstGeom prst="rect">
            <a:avLst/>
          </a:prstGeom>
          <a:solidFill>
            <a:srgbClr val="4565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754173" y="4279392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2.2× vs 3× target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54173" y="4626864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1.75×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51146" y="2148840"/>
            <a:ext cx="2093976" cy="2971800"/>
          </a:xfrm>
          <a:prstGeom prst="roundRect">
            <a:avLst>
              <a:gd name="adj" fmla="val 2620"/>
            </a:avLst>
          </a:prstGeom>
          <a:solidFill>
            <a:srgbClr val="33527C"/>
          </a:solidFill>
          <a:ln w="12700">
            <a:solidFill>
              <a:srgbClr val="2B4A7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51146" y="2148840"/>
            <a:ext cx="2093976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51146" y="2441448"/>
            <a:ext cx="20939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9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51146" y="3108960"/>
            <a:ext cx="20939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4000" dirty="0"/>
          </a:p>
        </p:txBody>
      </p:sp>
      <p:sp>
        <p:nvSpPr>
          <p:cNvPr id="23" name="Shape 21"/>
          <p:cNvSpPr/>
          <p:nvPr/>
        </p:nvSpPr>
        <p:spPr>
          <a:xfrm>
            <a:off x="5234026" y="4142232"/>
            <a:ext cx="1728216" cy="18288"/>
          </a:xfrm>
          <a:prstGeom prst="rect">
            <a:avLst/>
          </a:prstGeom>
          <a:solidFill>
            <a:srgbClr val="45658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51146" y="4279392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vs 32%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51146" y="4626864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won / 13 closed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48118" y="2148840"/>
            <a:ext cx="2093976" cy="2971800"/>
          </a:xfrm>
          <a:prstGeom prst="roundRect">
            <a:avLst>
              <a:gd name="adj" fmla="val 2620"/>
            </a:avLst>
          </a:prstGeom>
          <a:solidFill>
            <a:srgbClr val="33527C"/>
          </a:solidFill>
          <a:ln w="12700">
            <a:solidFill>
              <a:srgbClr val="2B4A7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48118" y="2148840"/>
            <a:ext cx="2093976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48118" y="2441448"/>
            <a:ext cx="20939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9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DEAL SIZE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348118" y="3108960"/>
            <a:ext cx="20939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$91K</a:t>
            </a:r>
            <a:endParaRPr lang="en-US" sz="4000" dirty="0"/>
          </a:p>
        </p:txBody>
      </p:sp>
      <p:sp>
        <p:nvSpPr>
          <p:cNvPr id="30" name="Shape 28"/>
          <p:cNvSpPr/>
          <p:nvPr/>
        </p:nvSpPr>
        <p:spPr>
          <a:xfrm>
            <a:off x="7530998" y="4142232"/>
            <a:ext cx="1728216" cy="18288"/>
          </a:xfrm>
          <a:prstGeom prst="rect">
            <a:avLst/>
          </a:prstGeom>
          <a:solidFill>
            <a:srgbClr val="45658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48118" y="4279392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vs $82K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348118" y="4626864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won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5091" y="2148840"/>
            <a:ext cx="2093976" cy="2971800"/>
          </a:xfrm>
          <a:prstGeom prst="roundRect">
            <a:avLst>
              <a:gd name="adj" fmla="val 2620"/>
            </a:avLst>
          </a:prstGeom>
          <a:solidFill>
            <a:srgbClr val="33527C"/>
          </a:solidFill>
          <a:ln w="12700">
            <a:solidFill>
              <a:srgbClr val="2B4A7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45091" y="2148840"/>
            <a:ext cx="2093976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645091" y="2441448"/>
            <a:ext cx="20939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9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 HEADCOUNT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645091" y="3108960"/>
            <a:ext cx="20939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37" name="Shape 35"/>
          <p:cNvSpPr/>
          <p:nvPr/>
        </p:nvSpPr>
        <p:spPr>
          <a:xfrm>
            <a:off x="9827971" y="4142232"/>
            <a:ext cx="1728216" cy="18288"/>
          </a:xfrm>
          <a:prstGeom prst="rect">
            <a:avLst/>
          </a:prstGeom>
          <a:solidFill>
            <a:srgbClr val="45658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645091" y="4279392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vs 12 planned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9645091" y="4626864"/>
            <a:ext cx="20939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Reeves departure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544068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DB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closed is stated net of the approved Greenleaf retention discount ($153K final). HubSpot still carries that deal at its $180K list price — see Revenue Performance.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133856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 / 09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Performance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2606040" cy="36576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$730K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 ·  8 deals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 ·  Monthly Pipeline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Performance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809244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$730K closed across 8 deals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Feb 1 and Mar 10 — 22% above the $600K monthly target and up from $574K in December.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Mix: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business $499K (68%)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expansion and renewal $231K (32%). Largest wins: Greenleaf renewal ($153K), BrightPath ($142K), Nexus Financial ($118K).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closed nothing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deal in the CRM carries a January close date, so this recovery is entirely a February story.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Reconciliation: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HubSpot still records Greenleaf at $180K list. The approved and accepted price was $153K (Chen, Feb 18). Figures above use $153K; the record is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$27K overstated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Sales Ops updates it.</a:t>
            </a:r>
            <a:endParaRPr lang="en-US" sz="1450" dirty="0"/>
          </a:p>
        </p:txBody>
      </p:sp>
      <p:pic>
        <p:nvPicPr>
          <p:cNvPr id="15" name="Image 0" descr="chart_reven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224528"/>
            <a:ext cx="7680960" cy="18836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794760" y="6236208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HubSpot closed-won deals, Feb 1 – Mar 10, 2026; Greenleaf final pricing per CFO approval thread, Feb 18.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 / 09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2606040" cy="36576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$3.5M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·  30 deals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 ·  Monthly Pipeline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80924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 $3.51M across 30 deals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up 25% from $2.8M. Coverage improves to 2.2× against the 3× target — better than January's 1.75×, still short.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pipeline is $1.95M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stage probability. Nearly half the value (48%, $1.67M) sits at 40% probability or below, so coverage is thinner than the headline suggests.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Hygiene: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deals worth $200K are still open on close dates that lapsed in Nov–Dec 2025. Excluding them, coverage is 2.07×.</a:t>
            </a:r>
            <a:endParaRPr lang="en-US" sz="1450" dirty="0"/>
          </a:p>
        </p:txBody>
      </p:sp>
      <p:pic>
        <p:nvPicPr>
          <p:cNvPr id="15" name="Image 0" descr="chart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611880"/>
            <a:ext cx="8092440" cy="253288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794760" y="6236208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stated on the same basis as the February report. Source: HubSpot open deals as of Mar 10, 2026.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 / 09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2606040" cy="36576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$472K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 ·  Monthly Pipeline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80924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$472K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DataVault Corp ($420K, contract sent) and Nordwind Logistics Insights Launch ($52K).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case $1.13M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six deals at 80% probability or higher. Weighted pipeline across all 30 open deals is $1.95M.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Pinnacle Industries ($340K) has slipped out of Q1.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Karen Walsh (VP Procurement) confirmed Mar 3 that a 60-day vendor review now applies above $200K. Intent is unchanged and the evaluation was positive — realistic close is mid-May, against February's expectation of month-end.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DataVault's April 15 close depends on the 18% discount exception clearing.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Diane reviewed Mar 7 and Priya approved Mar 8; CFO sign-off was still outstanding on Mar 10.</a:t>
            </a:r>
            <a:endParaRPr lang="en-US" sz="1450" dirty="0"/>
          </a:p>
        </p:txBody>
      </p:sp>
      <p:pic>
        <p:nvPicPr>
          <p:cNvPr id="15" name="Image 0" descr="chart_fore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4617720"/>
            <a:ext cx="7680960" cy="1399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794760" y="6236208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= deals at contract-sent stage. Best case = all deals at ≥80% stage probability. Source: HubSpot; Pinnacle and DataVault status per mail, Mar 3–8.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 / 09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Analysis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2606040" cy="36576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  ·  8 of 13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 ·  Monthly Pipeline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Analysis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8092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 62%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(8 won, 5 lost), up sharply from 32% in December.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Platform is now a confirmed pattern, not a data point.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Three consecutive losses — Apex Dynamics ($95K), Crestview Group ($72K), HarborTech ($58K) — total $225K, or 74% of all value lost. Every loss note cites price: roughly 20% below ours, with analytics bundled in.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fourth deal was contested and held only on price.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Greenleaf's renewal was saved with a 15% discount against a Meridian bid ~25% below list. Total Meridian impact this period: $225K lost plus $27K of margin conceded.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$79K lost was not competitive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Greystone ($45K, budget frozen company-wide) and Foresight Analytics ($34K, decision deferred to 2027).</a:t>
            </a:r>
            <a:endParaRPr lang="en-US" sz="1450" dirty="0"/>
          </a:p>
        </p:txBody>
      </p:sp>
      <p:pic>
        <p:nvPicPr>
          <p:cNvPr id="15" name="Image 0" descr="chart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343400"/>
            <a:ext cx="7680960" cy="182880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794760" y="6236208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February's report described a single Meridian loss as "not yet a pattern." Source: HubSpot closed-lost reasons; Greenleaf thread, Feb 5–18.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 / 09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 &amp; Margin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2606040" cy="36576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Greenleaf margin  ·  68% floor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 ·  Monthly Pipeline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 &amp; Margin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1298448"/>
            <a:ext cx="8092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section — retention discount tracker added at the CFO's request, Feb 20.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1737360"/>
          <a:ext cx="80924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960120"/>
                <a:gridCol w="868680"/>
                <a:gridCol w="1371600"/>
                <a:gridCol w="1691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Greenleaf Co. renewal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(Chen, Feb 18)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DataVault Corp — Enterprise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req.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modelled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Awaiting CFO sign-off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3794760" y="3246120"/>
            <a:ext cx="8092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Tanaka flagged the Greenleaf renewal at roughly 64% gross margin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below the 68% renewal floor. Marcus approved it as a one-off and asked for this tracker so repeat exceptions stay visible.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exceptions in five weeks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both at or above the 15% standard ceiling, and both driven by competitor pricing — Meridian Platform on Greenleaf, Workforce360 on DataVault.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pattern, not either deal, is the issue.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Discounting is currently the only competitive response available to reps. A deliberate pricing answer to Meridian would keep margin decisions out of individual negotiations.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3794760" y="6236208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Greenleaf approval and margin threads, Feb 16–20; DataVault exception request, Mar 7–8.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 / 09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Lead Source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2606040" cy="36576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marketing-sourced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 ·  Monthly Pipeline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Lead Source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809244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open pipeline is marketing-sourced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($1.32M of $2.94M in the Feb 2 attribution pull), up from 36% in December.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territory split is the real story: East 55% vs West 28%.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West runs on outbound, which is why its pipeline is both smaller and later-stage.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Q1 Workforce Analytics Webinar is the top performer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 SQLs and $840K in attributed pipeline — but it runs in East only. Extending it to West is the single clearest lever on the sourcing gap.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media raised from $240K to $275K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(approved Feb 12) as LinkedIn CPCs ran 22% above plan; the waitlist is pacing to ~4,400 against a 5,000 goal. The Veldra Insights launch moved to Mar 22, with legal clearing pricing-page claims on Mar 9.</a:t>
            </a:r>
            <a:endParaRPr lang="en-US" sz="1450" dirty="0"/>
          </a:p>
        </p:txBody>
      </p:sp>
      <p:pic>
        <p:nvPicPr>
          <p:cNvPr id="15" name="Image 0" descr="chart_terri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315968"/>
            <a:ext cx="7680960" cy="17099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794760" y="6236208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percentages are Sales Ops' Feb 2 pull against a $2.94M open-pipeline base; the Mar 10 base is $3.51M, so the mix will be restated next cycle.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 / 09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&amp; Blockers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2606040" cy="36576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asks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 ·  Monthly Pipeline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&amp; Blockers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8092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sign-off on the DataVault 18% discount exception.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Diane reviewed Mar 7, Priya approved Mar 8. Gates a $420K close on April 15. — Marcus Chen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Q1 Workforce Analytics Webinar to West.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a 27-point sourcing gap in the weaker territory. — Marketing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 Sam Reeves.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Departed Feb 14; AE headcount is 11 against 12 planned and no start date is set. — Priya Raman / HR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Greenleaf deal record to $153K.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by the CFO on Feb 18 and still open; the CRM overstates closed revenue by $27K until it lands. — Sales Ops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hygiene pass on $200K of lapsed-date deals.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deals carry close dates from Nov–Dec 2025 and inflate reported coverage. — Sales Ops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6236208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shown after each ask. Source: Microsoft 365 mail, Feb 1 – Mar 10, 2026.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09 / 09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2606040" cy="36576"/>
          </a:xfrm>
          <a:prstGeom prst="rect">
            <a:avLst/>
          </a:prstGeom>
          <a:solidFill>
            <a:srgbClr val="4461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risks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Aethon  ·  Monthly Pipeline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8092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Platform price competition — escalated.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$252K of impact this period across three losses and one discounted save. Deal-by-deal discounting is not a durable answer.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erosion.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Greenleaf closed at ~64% gross margin against a 68% floor, and a second exception above the standard ceiling is already in flight.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Pinnacle Industries ($340K) out of Q1.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60-day procurement review pushes the largest single deal to mid-May. Customer intent is unchanged, so this is timing rather than loss risk.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capacity.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AEs against 12 planned since Feb 14, with Sam Reeves' accounts redistributed and no backfill date.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Corp rollout paused.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$85K Insights deal booked Mar 5 is on hold two to three weeks pending the customer's DPA legal review. Revenue is booked; onboarding and reference value are not yet secured.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6236208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Corp (customer, $85K booked) is unrelated to Meridian Platform (competitor) despite the shared name.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Aethon Monthly Pipeline Review — March 10, 2026</dc:title>
  <dc:subject>PptxGenJS Presentation</dc:subject>
  <dc:creator>Diane Whitfield, Sales Operations</dc:creator>
  <cp:lastModifiedBy>Diane Whitfield, Sales Operations</cp:lastModifiedBy>
  <cp:revision>1</cp:revision>
  <dcterms:created xsi:type="dcterms:W3CDTF">2026-09-06T06:05:53Z</dcterms:created>
  <dcterms:modified xsi:type="dcterms:W3CDTF">2026-09-06T06:05:53Z</dcterms:modified>
</cp:coreProperties>
</file>