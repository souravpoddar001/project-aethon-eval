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2194560" cy="10972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4A90D9"/>
                </a:solidFill>
                <a:latin typeface="Calibri"/>
              </a:rPr>
              <a:t>AETHON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148840"/>
            <a:ext cx="1060704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Monthly Pipeline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C9D6E8"/>
                </a:solidFill>
                <a:latin typeface="Calibri"/>
              </a:rPr>
              <a:t>March 10, 2026   ·   Covering February / early March 2026 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10515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8FBDEC"/>
                </a:solidFill>
                <a:latin typeface="Calibri"/>
              </a:rPr>
              <a:t>Prepared by</a:t>
            </a:r>
            <a:r>
              <a:rPr sz="1300" b="0">
                <a:solidFill>
                  <a:srgbClr val="C9D6E8"/>
                </a:solidFill>
                <a:latin typeface="Calibri"/>
              </a:rPr>
              <a:t xml:space="preserve">   Diane Whitfield, Sales Operations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8FBDEC"/>
                </a:solidFill>
                <a:latin typeface="Calibri"/>
              </a:rPr>
              <a:t>Distribution</a:t>
            </a:r>
            <a:r>
              <a:rPr sz="1300" b="0">
                <a:solidFill>
                  <a:srgbClr val="C9D6E8"/>
                </a:solidFill>
                <a:latin typeface="Calibri"/>
              </a:rPr>
              <a:t xml:space="preserve">   Priya Raman (VP Sales) · Marcus Chen (CFO) · Leo Tanaka (FP&amp;A)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617720"/>
            <a:ext cx="3840480" cy="27432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4A90D9"/>
                </a:solidFill>
                <a:latin typeface="Calibri"/>
              </a:rPr>
              <a:t>SECTION 01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82296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1737360" cy="914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2093976" cy="2788920"/>
          </a:xfrm>
          <a:prstGeom prst="roundRect">
            <a:avLst/>
          </a:prstGeom>
          <a:solidFill>
            <a:srgbClr val="2B4A72"/>
          </a:solidFill>
          <a:ln w="12700">
            <a:solidFill>
              <a:srgbClr val="335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2093976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41448"/>
            <a:ext cx="2093976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8FBDEC"/>
                </a:solidFill>
                <a:latin typeface="Calibri"/>
              </a:rPr>
              <a:t>REVENUE 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2093976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$757K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42232"/>
            <a:ext cx="1728216" cy="18288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2093976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▲ vs $600K target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2344" y="2148840"/>
            <a:ext cx="2093976" cy="2788920"/>
          </a:xfrm>
          <a:prstGeom prst="roundRect">
            <a:avLst/>
          </a:prstGeom>
          <a:solidFill>
            <a:srgbClr val="2B4A72"/>
          </a:solidFill>
          <a:ln w="12700">
            <a:solidFill>
              <a:srgbClr val="335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52344" y="2148840"/>
            <a:ext cx="2093976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344" y="2441448"/>
            <a:ext cx="2093976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8FBDEC"/>
                </a:solidFill>
                <a:latin typeface="Calibri"/>
              </a:rPr>
              <a:t>PIPELINE (OPEN)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3108960"/>
            <a:ext cx="2093976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$3.5M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35224" y="4142232"/>
            <a:ext cx="1728216" cy="18288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52344" y="4297680"/>
            <a:ext cx="2093976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2.19× vs 3× target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7488" y="2148840"/>
            <a:ext cx="2093976" cy="2788920"/>
          </a:xfrm>
          <a:prstGeom prst="roundRect">
            <a:avLst/>
          </a:prstGeom>
          <a:solidFill>
            <a:srgbClr val="2B4A72"/>
          </a:solidFill>
          <a:ln w="12700">
            <a:solidFill>
              <a:srgbClr val="335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47488" y="2148840"/>
            <a:ext cx="2093976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2441448"/>
            <a:ext cx="2093976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8FBDEC"/>
                </a:solidFill>
                <a:latin typeface="Calibri"/>
              </a:rP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3108960"/>
            <a:ext cx="2093976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62%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0368" y="4142232"/>
            <a:ext cx="1728216" cy="18288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7488" y="4297680"/>
            <a:ext cx="2093976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▲ vs 32% prior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42632" y="2148840"/>
            <a:ext cx="2093976" cy="2788920"/>
          </a:xfrm>
          <a:prstGeom prst="roundRect">
            <a:avLst/>
          </a:prstGeom>
          <a:solidFill>
            <a:srgbClr val="2B4A72"/>
          </a:solidFill>
          <a:ln w="12700">
            <a:solidFill>
              <a:srgbClr val="335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2632" y="2148840"/>
            <a:ext cx="2093976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2632" y="2441448"/>
            <a:ext cx="2093976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8FBDEC"/>
                </a:solidFill>
                <a:latin typeface="Calibri"/>
              </a:rPr>
              <a:t>AVG DEAL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2632" y="3108960"/>
            <a:ext cx="2093976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$95K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4142232"/>
            <a:ext cx="1728216" cy="18288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42632" y="4297680"/>
            <a:ext cx="2093976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▲ vs $82K prior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37776" y="2148840"/>
            <a:ext cx="2093976" cy="2788920"/>
          </a:xfrm>
          <a:prstGeom prst="roundRect">
            <a:avLst/>
          </a:prstGeom>
          <a:solidFill>
            <a:srgbClr val="2B4A72"/>
          </a:solidFill>
          <a:ln w="12700">
            <a:solidFill>
              <a:srgbClr val="335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37776" y="2148840"/>
            <a:ext cx="2093976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37776" y="2441448"/>
            <a:ext cx="2093976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8FBDEC"/>
                </a:solidFill>
                <a:latin typeface="Calibri"/>
              </a:rPr>
              <a:t>HEADCOUNT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3108960"/>
            <a:ext cx="2093976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20656" y="4142232"/>
            <a:ext cx="1728216" cy="18288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37776" y="4297680"/>
            <a:ext cx="2093976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8FBDEC"/>
                </a:solidFill>
                <a:latin typeface="Calibri"/>
              </a:rPr>
              <a:t>● 12 planned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19088"/>
            <a:ext cx="457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0" y="0"/>
            <a:ext cx="4572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SECTION 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2926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7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Revenue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606040" cy="32004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743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400" b="1">
                <a:solidFill>
                  <a:srgbClr val="8FBDEC"/>
                </a:solidFill>
                <a:latin typeface="Calibri"/>
              </a:rPr>
              <a:t>$757K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40680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closed  ·  8 deals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8FBDEC"/>
                </a:solidFill>
                <a:latin typeface="Calibri"/>
              </a:rPr>
              <a:t>Aethon  ·  Monthly Pipeline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419088"/>
            <a:ext cx="5029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57200"/>
            <a:ext cx="80924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Revenue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078992"/>
            <a:ext cx="1463040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325880"/>
            <a:ext cx="8092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600">
                <a:solidFill>
                  <a:srgbClr val="242A33"/>
                </a:solidFill>
                <a:latin typeface="Calibri"/>
              </a:rPr>
              <a:t>February / early March closed $757K across 8 deals — above the $600K monthly target.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600">
                <a:solidFill>
                  <a:srgbClr val="242A33"/>
                </a:solidFill>
                <a:latin typeface="Calibri"/>
              </a:rPr>
              <a:t>Revenue mix: new-logo 66% ($499K); expansion / renewal 34% ($258K). Greenleaf renewal ($180K) required a 15% discount to counter a Meridian Platform offer.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600">
                <a:solidFill>
                  <a:srgbClr val="242A33"/>
                </a:solidFill>
                <a:latin typeface="Calibri"/>
              </a:rPr>
              <a:t>Key wins: BrightPath Workforce Analytics $142K (webinar-sourced), Nexus Financial Enterprise $118K, Meridian Corp Insights $85K.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600">
                <a:solidFill>
                  <a:srgbClr val="242A33"/>
                </a:solidFill>
                <a:latin typeface="Calibri"/>
              </a:rPr>
              <a:t>Q1 tracking well — team on pace to exceed $2.4M target with pipeline coverage improving.</a:t>
            </a:r>
          </a:p>
        </p:txBody>
      </p:sp>
      <p:pic>
        <p:nvPicPr>
          <p:cNvPr id="15" name="Picture 14" descr="aethon-prior-revenue-Feb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297680"/>
            <a:ext cx="6766560" cy="1930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0" y="0"/>
            <a:ext cx="4572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SECTION 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2926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7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Pipeline Health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606040" cy="32004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743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400" b="1">
                <a:solidFill>
                  <a:srgbClr val="8FBDEC"/>
                </a:solidFill>
                <a:latin typeface="Calibri"/>
              </a:rPr>
              <a:t>$3.5M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40680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open  ·  30 deals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8FBDEC"/>
                </a:solidFill>
                <a:latin typeface="Calibri"/>
              </a:rPr>
              <a:t>Aethon  ·  Monthly Pipeline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419088"/>
            <a:ext cx="5029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57200"/>
            <a:ext cx="80924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Pipeline Health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078992"/>
            <a:ext cx="1463040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325880"/>
            <a:ext cx="8092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700">
                <a:solidFill>
                  <a:srgbClr val="242A33"/>
                </a:solidFill>
                <a:latin typeface="Calibri"/>
              </a:rPr>
              <a:t>Open pipeline $3.5M across 30 deals; coverage ratio 2.19× vs the 3× target — improved from 1.75×.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700">
                <a:solidFill>
                  <a:srgbClr val="242A33"/>
                </a:solidFill>
                <a:latin typeface="Calibri"/>
              </a:rPr>
              <a:t>Late-stage pipeline strong: $472K Contract Sent (DataVault $420K), $655K Decision Maker (Pinnacle $340K, Cascade $185K).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700">
                <a:solidFill>
                  <a:srgbClr val="242A33"/>
                </a:solidFill>
                <a:latin typeface="Calibri"/>
              </a:rPr>
              <a:t>Territory split: East pipeline $1.84M (55% marketing-sourced); West pipeline $1.10M (28% marketing-sourced).</a:t>
            </a:r>
          </a:p>
        </p:txBody>
      </p:sp>
      <p:pic>
        <p:nvPicPr>
          <p:cNvPr id="15" name="Picture 14" descr="aethon-prior-pipeline-Feb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743200"/>
            <a:ext cx="8046720" cy="29971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0" y="0"/>
            <a:ext cx="4572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SECTION 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2926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7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Forecast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606040" cy="32004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743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400" b="1">
                <a:solidFill>
                  <a:srgbClr val="8FBDEC"/>
                </a:solidFill>
                <a:latin typeface="Calibri"/>
              </a:rPr>
              <a:t>$1.1M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40680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commit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8FBDEC"/>
                </a:solidFill>
                <a:latin typeface="Calibri"/>
              </a:rPr>
              <a:t>Aethon  ·  Monthly Pipeline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419088"/>
            <a:ext cx="5029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57200"/>
            <a:ext cx="80924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Forecast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078992"/>
            <a:ext cx="1463040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371600"/>
            <a:ext cx="8092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800">
                <a:solidFill>
                  <a:srgbClr val="242A33"/>
                </a:solidFill>
                <a:latin typeface="Calibri"/>
              </a:rPr>
              <a:t>Commit: $1.1M (DataVault Corp $420K contract sent + Pinnacle $340K decision maker + three mid-size deals).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800">
                <a:solidFill>
                  <a:srgbClr val="242A33"/>
                </a:solidFill>
                <a:latin typeface="Calibri"/>
              </a:rPr>
              <a:t>Best case: $1.8M (adds Summit Healthcare $285K, Prism Analytics $210K, and Keystone $140K).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800">
                <a:solidFill>
                  <a:srgbClr val="242A33"/>
                </a:solidFill>
                <a:latin typeface="Calibri"/>
              </a:rPr>
              <a:t>DataVault ($420K): 18% discount under review (3-yr commit, fintech vertical); needs CFO sign-off. Pinnacle ($340K): decision-maker bought in, targeting end of April.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0" y="0"/>
            <a:ext cx="4572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SECTION 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2926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7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Win/Loss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606040" cy="32004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743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400" b="1">
                <a:solidFill>
                  <a:srgbClr val="8FBDEC"/>
                </a:solidFill>
                <a:latin typeface="Calibri"/>
              </a:rPr>
              <a:t>62%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40680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win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8FBDEC"/>
                </a:solidFill>
                <a:latin typeface="Calibri"/>
              </a:rPr>
              <a:t>Aethon  ·  Monthly Pipeline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419088"/>
            <a:ext cx="5029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57200"/>
            <a:ext cx="80924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Win/Loss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078992"/>
            <a:ext cx="1463040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371600"/>
            <a:ext cx="8092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800">
                <a:solidFill>
                  <a:srgbClr val="242A33"/>
                </a:solidFill>
                <a:latin typeface="Calibri"/>
              </a:rPr>
              <a:t>Win rate jumped to 62% in February (8 won vs 5 lost), up from 32% in December.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800">
                <a:solidFill>
                  <a:srgbClr val="242A33"/>
                </a:solidFill>
                <a:latin typeface="Calibri"/>
              </a:rPr>
              <a:t>Three losses to Meridian Platform ($225K total: Apex Dynamics $95K, Crestview $72K, HarborTech $58K). Meridian is pricing ~25% below list — also used to threaten the Greenleaf renewal.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0" y="0"/>
            <a:ext cx="4572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SECTION 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2926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76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Marketing &amp; Lead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606040" cy="32004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743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400" b="1">
                <a:solidFill>
                  <a:srgbClr val="8FBDEC"/>
                </a:solidFill>
                <a:latin typeface="Calibri"/>
              </a:rPr>
              <a:t>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40680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marketing-sourced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8FBDEC"/>
                </a:solidFill>
                <a:latin typeface="Calibri"/>
              </a:rPr>
              <a:t>Aethon  ·  Monthly Pipeline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419088"/>
            <a:ext cx="5029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57200"/>
            <a:ext cx="80924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Marketing &amp; Lead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078992"/>
            <a:ext cx="1463040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371600"/>
            <a:ext cx="8092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800">
                <a:solidFill>
                  <a:srgbClr val="242A33"/>
                </a:solidFill>
                <a:latin typeface="Calibri"/>
              </a:rPr>
              <a:t>Marketing-sourced pipeline is 45% of open deals ($1.32M of $2.94M). Territory gap: East 55% vs West 28% — extending top campaigns to West is the top lever.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800">
                <a:solidFill>
                  <a:srgbClr val="242A33"/>
                </a:solidFill>
                <a:latin typeface="Calibri"/>
              </a:rPr>
              <a:t>Q1 Workforce Analytics Webinar is the top campaign: 8 SQLs, $840K attributed pipeline (East only). Paid media budget increased to $275K (+$35K) after LinkedIn CPCs rose 22%.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0" y="0"/>
            <a:ext cx="4572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SECTION 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2926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76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Asks &amp; Blockers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606040" cy="32004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743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400" b="1">
                <a:solidFill>
                  <a:srgbClr val="8FBDEC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40680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open 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8FBDEC"/>
                </a:solidFill>
                <a:latin typeface="Calibri"/>
              </a:rPr>
              <a:t>Aethon  ·  Monthly Pipeline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419088"/>
            <a:ext cx="5029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57200"/>
            <a:ext cx="80924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Asks &amp; Blockers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078992"/>
            <a:ext cx="1463040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371600"/>
            <a:ext cx="8092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800">
                <a:solidFill>
                  <a:srgbClr val="242A33"/>
                </a:solidFill>
                <a:latin typeface="Calibri"/>
              </a:rPr>
              <a:t>DataVault $420K pricing exception (18% discount) awaiting CFO approval — deal contingent on sign-off.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800">
                <a:solidFill>
                  <a:srgbClr val="242A33"/>
                </a:solidFill>
                <a:latin typeface="Calibri"/>
              </a:rPr>
              <a:t>Extend Workforce Analytics Webinar to West territory — East delivers 55% marketing-sourced pipeline vs West 28%; this is the fastest path to close the gap.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800">
                <a:solidFill>
                  <a:srgbClr val="242A33"/>
                </a:solidFill>
                <a:latin typeface="Calibri"/>
              </a:rPr>
              <a:t>Meridian Corp ($85K) rollout paused for legal DPA review — expected 2–3 weeks; no product concerns.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0" y="0"/>
            <a:ext cx="45720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SECTION 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29260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76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Risks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2606040" cy="32004"/>
          </a:xfrm>
          <a:prstGeom prst="rect">
            <a:avLst/>
          </a:prstGeom>
          <a:solidFill>
            <a:srgbClr val="335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7432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400" b="1">
                <a:solidFill>
                  <a:srgbClr val="8FBDEC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440680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C9D6E8"/>
                </a:solidFill>
                <a:latin typeface="Calibri"/>
              </a:rPr>
              <a:t>tracked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2743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8FBDEC"/>
                </a:solidFill>
                <a:latin typeface="Calibri"/>
              </a:rPr>
              <a:t>Aethon  ·  Monthly Pipeline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419088"/>
            <a:ext cx="5029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57200"/>
            <a:ext cx="80924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Risks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078992"/>
            <a:ext cx="1463040" cy="822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371600"/>
            <a:ext cx="8092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800">
                <a:solidFill>
                  <a:srgbClr val="242A33"/>
                </a:solidFill>
                <a:latin typeface="Calibri"/>
              </a:rPr>
              <a:t>Meridian Platform: 3 losses ($225K) plus aggressive pricing on renewals (~25% below list). Greenleaf saved with 15% discount; expect more pricing pressure in Q2.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800">
                <a:solidFill>
                  <a:srgbClr val="242A33"/>
                </a:solidFill>
                <a:latin typeface="Calibri"/>
              </a:rPr>
              <a:t>Pipeline coverage at 2.19× (up from 1.75×) but still short of 3×. West territory marketing-sourced pipeline is only 28% — over-reliance on outbound is a concentration risk.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4A90D9"/>
                </a:solidFill>
                <a:latin typeface="Calibri"/>
              </a:rPr>
              <a:t xml:space="preserve">▪  </a:t>
            </a:r>
            <a:r>
              <a:rPr sz="1800">
                <a:solidFill>
                  <a:srgbClr val="242A33"/>
                </a:solidFill>
                <a:latin typeface="Calibri"/>
              </a:rPr>
              <a:t>Veldra Insights launch rescheduled to March 22 — press-kit timeline at risk from rebrand budget reallocation. Could affect Q2 pipeline generation if delayed further.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