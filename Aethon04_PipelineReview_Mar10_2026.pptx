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2194560" cy="10972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4A90D9"/>
                </a:solidFill>
                <a:latin typeface="Calibri"/>
              </a:rPr>
              <a:t>AETHON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148840"/>
            <a:ext cx="106070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Monthly Pipeline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900" b="0">
                <a:solidFill>
                  <a:srgbClr val="C9D6E8"/>
                </a:solidFill>
                <a:latin typeface="Calibri"/>
              </a:rPr>
              <a:t>March 10, 2026   ·   Covering February / early March 2026 snapshot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5156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8FBDEC"/>
                </a:solidFill>
                <a:latin typeface="Calibri"/>
              </a:rPr>
              <a:t>Prepared by</a:t>
            </a:r>
            <a:r>
              <a:rPr sz="1300" b="0">
                <a:solidFill>
                  <a:srgbClr val="C9D6E8"/>
                </a:solidFill>
                <a:latin typeface="Calibri"/>
              </a:rPr>
              <a:t xml:space="preserve">   Diane Whitfield, Sales Operations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8FBDEC"/>
                </a:solidFill>
                <a:latin typeface="Calibri"/>
              </a:rPr>
              <a:t>Distribution</a:t>
            </a:r>
            <a:r>
              <a:rPr sz="1300" b="0">
                <a:solidFill>
                  <a:srgbClr val="C9D6E8"/>
                </a:solidFill>
                <a:latin typeface="Calibri"/>
              </a:rPr>
              <a:t xml:space="preserve">   Priya Raman (VP Sales) · Marcus Chen (CFO) · Leo Tanaka (FP&amp;A)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617720"/>
            <a:ext cx="3840480" cy="27432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4A90D9"/>
                </a:solidFill>
                <a:latin typeface="Calibri"/>
              </a:rPr>
              <a:t>SECTION 01 /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822960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Scorecard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27632"/>
            <a:ext cx="1737360" cy="914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2093976" cy="2788920"/>
          </a:xfrm>
          <a:prstGeom prst="roundRect">
            <a:avLst/>
          </a:prstGeom>
          <a:solidFill>
            <a:srgbClr val="2B4A72"/>
          </a:solidFill>
          <a:ln w="12700">
            <a:solidFill>
              <a:srgbClr val="335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2093976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41448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8FBDEC"/>
                </a:solidFill>
                <a:latin typeface="Calibri"/>
              </a:rPr>
              <a:t>REVENUE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2093976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$757K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42232"/>
            <a:ext cx="1728216" cy="18288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2E7D32"/>
                </a:solidFill>
                <a:latin typeface="Calibri"/>
              </a:rPr>
              <a:t>▲ vs $600K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52344" y="2148840"/>
            <a:ext cx="2093976" cy="2788920"/>
          </a:xfrm>
          <a:prstGeom prst="roundRect">
            <a:avLst/>
          </a:prstGeom>
          <a:solidFill>
            <a:srgbClr val="2B4A72"/>
          </a:solidFill>
          <a:ln w="12700">
            <a:solidFill>
              <a:srgbClr val="335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52344" y="2148840"/>
            <a:ext cx="2093976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2441448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8FBDEC"/>
                </a:solidFill>
                <a:latin typeface="Calibri"/>
              </a:rPr>
              <a:t>PIPELINE (OPEN)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3108960"/>
            <a:ext cx="2093976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$3.5M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35224" y="4142232"/>
            <a:ext cx="1728216" cy="18288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52344" y="4297680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Calibri"/>
              </a:rPr>
              <a:t>2.19× vs 3× 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47488" y="2148840"/>
            <a:ext cx="2093976" cy="2788920"/>
          </a:xfrm>
          <a:prstGeom prst="roundRect">
            <a:avLst/>
          </a:prstGeom>
          <a:solidFill>
            <a:srgbClr val="2B4A72"/>
          </a:solidFill>
          <a:ln w="12700">
            <a:solidFill>
              <a:srgbClr val="335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47488" y="2148840"/>
            <a:ext cx="2093976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441448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8FBDEC"/>
                </a:solidFill>
                <a:latin typeface="Calibri"/>
              </a:rPr>
              <a:t>WIN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8" y="3108960"/>
            <a:ext cx="2093976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62%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30368" y="4142232"/>
            <a:ext cx="1728216" cy="18288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4297680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2E7D32"/>
                </a:solidFill>
                <a:latin typeface="Calibri"/>
              </a:rPr>
              <a:t>▲ vs 32% prior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42632" y="2148840"/>
            <a:ext cx="2093976" cy="2788920"/>
          </a:xfrm>
          <a:prstGeom prst="roundRect">
            <a:avLst/>
          </a:prstGeom>
          <a:solidFill>
            <a:srgbClr val="2B4A72"/>
          </a:solidFill>
          <a:ln w="12700">
            <a:solidFill>
              <a:srgbClr val="335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2632" y="2148840"/>
            <a:ext cx="2093976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2" y="2441448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8FBDEC"/>
                </a:solidFill>
                <a:latin typeface="Calibri"/>
              </a:rPr>
              <a:t>AVG DEAL 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2632" y="3108960"/>
            <a:ext cx="2093976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$95K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25512" y="4142232"/>
            <a:ext cx="1728216" cy="18288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42632" y="4297680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2E7D32"/>
                </a:solidFill>
                <a:latin typeface="Calibri"/>
              </a:rPr>
              <a:t>▲ vs $82K prior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37776" y="2148840"/>
            <a:ext cx="2093976" cy="2788920"/>
          </a:xfrm>
          <a:prstGeom prst="roundRect">
            <a:avLst/>
          </a:prstGeom>
          <a:solidFill>
            <a:srgbClr val="2B4A72"/>
          </a:solidFill>
          <a:ln w="12700">
            <a:solidFill>
              <a:srgbClr val="335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37776" y="2148840"/>
            <a:ext cx="2093976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441448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8FBDEC"/>
                </a:solidFill>
                <a:latin typeface="Calibri"/>
              </a:rPr>
              <a:t>HEADCOUNT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3108960"/>
            <a:ext cx="2093976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20656" y="4142232"/>
            <a:ext cx="1728216" cy="18288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37776" y="4297680"/>
            <a:ext cx="2093976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8FBDEC"/>
                </a:solidFill>
                <a:latin typeface="Calibri"/>
              </a:rPr>
              <a:t>● 12 planned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19088"/>
            <a:ext cx="457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4A90D9"/>
                </a:solidFill>
                <a:latin typeface="Calibri"/>
              </a:rPr>
              <a:t>SECTION 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7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Revenue 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2606040" cy="32004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8FBDEC"/>
                </a:solidFill>
                <a:latin typeface="Calibri"/>
              </a:rPr>
              <a:t>$757K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0">
                <a:solidFill>
                  <a:srgbClr val="C9D6E8"/>
                </a:solidFill>
                <a:latin typeface="Calibri"/>
              </a:rPr>
              <a:t>closed  ·  8 deals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8FBDEC"/>
                </a:solidFill>
                <a:latin typeface="Calibri"/>
              </a:rPr>
              <a:t>Aethon  ·  Monthly Pipeline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Revenue Performance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1325880"/>
            <a:ext cx="8092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6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600">
                <a:solidFill>
                  <a:srgbClr val="242A33"/>
                </a:solidFill>
                <a:latin typeface="Calibri"/>
              </a:rPr>
              <a:t>February / early March closed $757K across 8 deals — above the $600K monthly target, a strong month.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6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600">
                <a:solidFill>
                  <a:srgbClr val="242A33"/>
                </a:solidFill>
                <a:latin typeface="Calibri"/>
              </a:rPr>
              <a:t>Revenue mix: new-logo 66% ($499K); expansion / renewal 34% ($258K).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6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600">
                <a:solidFill>
                  <a:srgbClr val="242A33"/>
                </a:solidFill>
                <a:latin typeface="Calibri"/>
              </a:rPr>
              <a:t>Key wins: Greenleaf renewal $180K, BrightPath Workforce Analytics $142K, Nexus Financial Enterprise $118K.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6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600">
                <a:solidFill>
                  <a:srgbClr val="242A33"/>
                </a:solidFill>
                <a:latin typeface="Calibri"/>
              </a:rPr>
              <a:t>Q1 tracking well — team on pace to exceed $2.4M target with pipeline coverage improving.</a:t>
            </a:r>
          </a:p>
        </p:txBody>
      </p:sp>
      <p:pic>
        <p:nvPicPr>
          <p:cNvPr id="15" name="Picture 14" descr="aethon-prior-revenue-Feb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4297680"/>
            <a:ext cx="6766560" cy="1930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4A90D9"/>
                </a:solidFill>
                <a:latin typeface="Calibri"/>
              </a:rPr>
              <a:t>SECTION 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7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Pipeline Health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2606040" cy="32004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8FBDEC"/>
                </a:solidFill>
                <a:latin typeface="Calibri"/>
              </a:rPr>
              <a:t>$3.5M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0">
                <a:solidFill>
                  <a:srgbClr val="C9D6E8"/>
                </a:solidFill>
                <a:latin typeface="Calibri"/>
              </a:rPr>
              <a:t>open  ·  30 deals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8FBDEC"/>
                </a:solidFill>
                <a:latin typeface="Calibri"/>
              </a:rPr>
              <a:t>Aethon  ·  Monthly Pipeline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Pipeline Health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1325880"/>
            <a:ext cx="8092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7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700">
                <a:solidFill>
                  <a:srgbClr val="242A33"/>
                </a:solidFill>
                <a:latin typeface="Calibri"/>
              </a:rPr>
              <a:t>Open pipeline $3.5M across 30 deals; coverage ratio 2.19× vs the 3× target — improved from 1.75×.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7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700">
                <a:solidFill>
                  <a:srgbClr val="242A33"/>
                </a:solidFill>
                <a:latin typeface="Calibri"/>
              </a:rPr>
              <a:t>Late-stage pipeline strong: $472K in Contract Sent, $655K in Decision Maker Bought-In.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7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700">
                <a:solidFill>
                  <a:srgbClr val="242A33"/>
                </a:solidFill>
                <a:latin typeface="Calibri"/>
              </a:rPr>
              <a:t>Outbound-generated enterprise deals dominate: DataVault $420K, Pinnacle $340K, Summit $285K.</a:t>
            </a:r>
          </a:p>
        </p:txBody>
      </p:sp>
      <p:pic>
        <p:nvPicPr>
          <p:cNvPr id="15" name="Picture 14" descr="aethon-prior-pipeline-Feb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2743200"/>
            <a:ext cx="8046720" cy="29971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4A90D9"/>
                </a:solidFill>
                <a:latin typeface="Calibri"/>
              </a:rPr>
              <a:t>SECTION 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76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Forecast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2606040" cy="32004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8FBDEC"/>
                </a:solidFill>
                <a:latin typeface="Calibri"/>
              </a:rPr>
              <a:t>$1.1M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0">
                <a:solidFill>
                  <a:srgbClr val="C9D6E8"/>
                </a:solidFill>
                <a:latin typeface="Calibri"/>
              </a:rPr>
              <a:t>commit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8FBDEC"/>
                </a:solidFill>
                <a:latin typeface="Calibri"/>
              </a:rPr>
              <a:t>Aethon  ·  Monthly Pipeline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Forecast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1371600"/>
            <a:ext cx="8092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Commit: $1.1M (DataVault Corp $420K contract sent + Pinnacle $340K decision maker + three mid-size deals).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Best case: $1.8M (adds Summit Healthcare $285K, Prism Analytics $210K, and Keystone $140K).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DataVault Corp ($420K) is the largest commit deal — contract sent, expected close mid-April. Pinnacle Industries ($340K) has decision-maker buy-in, targeting end of April.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4A90D9"/>
                </a:solidFill>
                <a:latin typeface="Calibri"/>
              </a:rPr>
              <a:t>SECTION 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7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Win/Loss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2606040" cy="32004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8FBDEC"/>
                </a:solidFill>
                <a:latin typeface="Calibri"/>
              </a:rPr>
              <a:t>62%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0">
                <a:solidFill>
                  <a:srgbClr val="C9D6E8"/>
                </a:solidFill>
                <a:latin typeface="Calibri"/>
              </a:rPr>
              <a:t>win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8FBDEC"/>
                </a:solidFill>
                <a:latin typeface="Calibri"/>
              </a:rPr>
              <a:t>Aethon  ·  Monthly Pipeline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Win/Loss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1371600"/>
            <a:ext cx="8092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Win rate jumped to 62% in February (8 won vs 5 lost), up from 32% in December.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Three losses to Meridian Platform (Apex Dynamics $95K, Crestview Group $72K, HarborTech $58K) — now a clear competitive pattern requiring response.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4A90D9"/>
                </a:solidFill>
                <a:latin typeface="Calibri"/>
              </a:rPr>
              <a:t>SECTION 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76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Marketing &amp; Lead 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2606040" cy="32004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8FBDEC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0">
                <a:solidFill>
                  <a:srgbClr val="C9D6E8"/>
                </a:solidFill>
                <a:latin typeface="Calibri"/>
              </a:rPr>
              <a:t>marketing-sourced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8FBDEC"/>
                </a:solidFill>
                <a:latin typeface="Calibri"/>
              </a:rPr>
              <a:t>Aethon  ·  Monthly Pipeline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Marketing &amp; Lead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1371600"/>
            <a:ext cx="8092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Marketing-sourced closed revenue was 30% in the period (BrightPath $142K, Meridian Corp $85K); open pipeline contribution lower at ~11%.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Insights Launch and Newsletter Promo campaigns generating pipeline ($371K open); Workforce Analytics Webinar delivered the BrightPath win.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4A90D9"/>
                </a:solidFill>
                <a:latin typeface="Calibri"/>
              </a:rPr>
              <a:t>SECTION 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76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Asks &amp; Blockers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2606040" cy="32004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8FBDEC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0">
                <a:solidFill>
                  <a:srgbClr val="C9D6E8"/>
                </a:solidFill>
                <a:latin typeface="Calibri"/>
              </a:rPr>
              <a:t>open 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8FBDEC"/>
                </a:solidFill>
                <a:latin typeface="Calibri"/>
              </a:rPr>
              <a:t>Aethon  ·  Monthly Pipeline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Asks &amp; Blockers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1371600"/>
            <a:ext cx="8092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Pipeline coverage still below 3× — need continued LinkedIn spend increase and additional outbound campaigns for Q2 pipeline.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Meridian Platform competitive response: 3 losses in February totaling $225K — requesting competitive battle card and pricing review.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Sales-tool evaluation: decision was due mid-February — need status update and timeline to close.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29000" y="0"/>
            <a:ext cx="45720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4A90D9"/>
                </a:solidFill>
                <a:latin typeface="Calibri"/>
              </a:rPr>
              <a:t>SECTION 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68680"/>
            <a:ext cx="292608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76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7432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Risks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2606040" cy="32004"/>
          </a:xfrm>
          <a:prstGeom prst="rect">
            <a:avLst/>
          </a:prstGeom>
          <a:solidFill>
            <a:srgbClr val="335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27432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8FBDEC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440680"/>
            <a:ext cx="2743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0">
                <a:solidFill>
                  <a:srgbClr val="C9D6E8"/>
                </a:solidFill>
                <a:latin typeface="Calibri"/>
              </a:rPr>
              <a:t>tracked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2743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8FBDEC"/>
                </a:solidFill>
                <a:latin typeface="Calibri"/>
              </a:rPr>
              <a:t>Aethon  ·  Monthly Pipeline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6419088"/>
            <a:ext cx="5029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57200"/>
            <a:ext cx="80924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800" b="1">
                <a:solidFill>
                  <a:srgbClr val="1F3A5F"/>
                </a:solidFill>
                <a:latin typeface="Calibri"/>
              </a:rPr>
              <a:t>Risks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078992"/>
            <a:ext cx="1463040" cy="82296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1371600"/>
            <a:ext cx="8092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Meridian Platform is now a confirmed competitive threat — 3 losses in February ($225K). Without a response plan, expect continued losses in Q2.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Pipeline coverage at 2.19× (improved from 1.75×) but still short of 3× target. Q2 quota attainment depends on sustained pipeline creation.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4A90D9"/>
                </a:solidFill>
                <a:latin typeface="Calibri"/>
              </a:rPr>
              <a:t xml:space="preserve">▪  </a:t>
            </a:r>
            <a:r>
              <a:rPr sz="1800">
                <a:solidFill>
                  <a:srgbClr val="242A33"/>
                </a:solidFill>
                <a:latin typeface="Calibri"/>
              </a:rPr>
              <a:t>Marketing-sourced pipeline share declining (30% closed, ~11% open). Over-reliance on outbound for Q2 is a concentration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