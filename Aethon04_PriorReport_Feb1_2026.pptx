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874519"/>
            <a:ext cx="2194560" cy="10972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4A90D9"/>
                </a:solidFill>
                <a:latin typeface="Calibri"/>
              </a:rPr>
              <a:t>AETHON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148840"/>
            <a:ext cx="10607040" cy="12801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Monthly Pipeline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900" b="0">
                <a:solidFill>
                  <a:srgbClr val="C9D6E8"/>
                </a:solidFill>
                <a:latin typeface="Calibri"/>
              </a:rPr>
              <a:t>February 1, 2026   ·   Covering December 2025 / January snapshot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00600"/>
            <a:ext cx="10515600" cy="11887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8FBDEC"/>
                </a:solidFill>
                <a:latin typeface="Calibri"/>
              </a:rPr>
              <a:t>Prepared by</a:t>
            </a:r>
            <a:r>
              <a:rPr sz="1300" b="0">
                <a:solidFill>
                  <a:srgbClr val="C9D6E8"/>
                </a:solidFill>
                <a:latin typeface="Calibri"/>
              </a:rPr>
              <a:t>   Diane Whitfield, Sales Operations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8FBDEC"/>
                </a:solidFill>
                <a:latin typeface="Calibri"/>
              </a:rPr>
              <a:t>Distribution</a:t>
            </a:r>
            <a:r>
              <a:rPr sz="1300" b="0">
                <a:solidFill>
                  <a:srgbClr val="C9D6E8"/>
                </a:solidFill>
                <a:latin typeface="Calibri"/>
              </a:rPr>
              <a:t>   Priya Raman (VP Sales) · Marcus Chen (CFO) · Leo Tanaka (FP&amp;A)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617720"/>
            <a:ext cx="3840480" cy="27432"/>
          </a:xfrm>
          <a:prstGeom prst="rect">
            <a:avLst/>
          </a:prstGeom>
          <a:solidFill>
            <a:srgbClr val="335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4A90D9"/>
                </a:solidFill>
                <a:latin typeface="Calibri"/>
              </a:rPr>
              <a:t>SECTION 01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8229600" cy="731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27632"/>
            <a:ext cx="1737360" cy="9144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2093976" cy="2788920"/>
          </a:xfrm>
          <a:prstGeom prst="roundRect">
            <a:avLst/>
          </a:prstGeom>
          <a:solidFill>
            <a:srgbClr val="2B4A72"/>
          </a:solidFill>
          <a:ln w="12700">
            <a:solidFill>
              <a:srgbClr val="335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148840"/>
            <a:ext cx="2093976" cy="8229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441448"/>
            <a:ext cx="2093976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8FBDEC"/>
                </a:solidFill>
                <a:latin typeface="Calibri"/>
              </a:rPr>
              <a:t>REVENUE CLOSED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2093976" cy="9144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$574K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142232"/>
            <a:ext cx="1728216" cy="18288"/>
          </a:xfrm>
          <a:prstGeom prst="rect">
            <a:avLst/>
          </a:prstGeom>
          <a:solidFill>
            <a:srgbClr val="335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297680"/>
            <a:ext cx="2093976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▼ vs $600K target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52344" y="2148840"/>
            <a:ext cx="2093976" cy="2788920"/>
          </a:xfrm>
          <a:prstGeom prst="roundRect">
            <a:avLst/>
          </a:prstGeom>
          <a:solidFill>
            <a:srgbClr val="2B4A72"/>
          </a:solidFill>
          <a:ln w="12700">
            <a:solidFill>
              <a:srgbClr val="335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52344" y="2148840"/>
            <a:ext cx="2093976" cy="8229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52344" y="2441448"/>
            <a:ext cx="2093976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8FBDEC"/>
                </a:solidFill>
                <a:latin typeface="Calibri"/>
              </a:rPr>
              <a:t>PIPELINE (OPEN)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2344" y="3108960"/>
            <a:ext cx="2093976" cy="9144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$2.8M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35224" y="4142232"/>
            <a:ext cx="1728216" cy="18288"/>
          </a:xfrm>
          <a:prstGeom prst="rect">
            <a:avLst/>
          </a:prstGeom>
          <a:solidFill>
            <a:srgbClr val="335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52344" y="4297680"/>
            <a:ext cx="2093976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1.75× vs 3× target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47488" y="2148840"/>
            <a:ext cx="2093976" cy="2788920"/>
          </a:xfrm>
          <a:prstGeom prst="roundRect">
            <a:avLst/>
          </a:prstGeom>
          <a:solidFill>
            <a:srgbClr val="2B4A72"/>
          </a:solidFill>
          <a:ln w="12700">
            <a:solidFill>
              <a:srgbClr val="335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47488" y="2148840"/>
            <a:ext cx="2093976" cy="8229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47488" y="2441448"/>
            <a:ext cx="2093976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8FBDEC"/>
                </a:solidFill>
                <a:latin typeface="Calibri"/>
              </a:rP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7488" y="3108960"/>
            <a:ext cx="2093976" cy="9144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32%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30368" y="4142232"/>
            <a:ext cx="1728216" cy="18288"/>
          </a:xfrm>
          <a:prstGeom prst="rect">
            <a:avLst/>
          </a:prstGeom>
          <a:solidFill>
            <a:srgbClr val="335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47488" y="4297680"/>
            <a:ext cx="2093976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2E7D32"/>
                </a:solidFill>
                <a:latin typeface="Calibri"/>
              </a:rPr>
              <a:t>▲ vs 30%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42632" y="2148840"/>
            <a:ext cx="2093976" cy="2788920"/>
          </a:xfrm>
          <a:prstGeom prst="roundRect">
            <a:avLst/>
          </a:prstGeom>
          <a:solidFill>
            <a:srgbClr val="2B4A72"/>
          </a:solidFill>
          <a:ln w="12700">
            <a:solidFill>
              <a:srgbClr val="335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42632" y="2148840"/>
            <a:ext cx="2093976" cy="8229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42632" y="2441448"/>
            <a:ext cx="2093976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8FBDEC"/>
                </a:solidFill>
                <a:latin typeface="Calibri"/>
              </a:rPr>
              <a:t>AVG DEAL SIZE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42632" y="3108960"/>
            <a:ext cx="2093976" cy="9144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$82K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4142232"/>
            <a:ext cx="1728216" cy="18288"/>
          </a:xfrm>
          <a:prstGeom prst="rect">
            <a:avLst/>
          </a:prstGeom>
          <a:solidFill>
            <a:srgbClr val="335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42632" y="4297680"/>
            <a:ext cx="2093976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2E7D32"/>
                </a:solidFill>
                <a:latin typeface="Calibri"/>
              </a:rPr>
              <a:t>▲ vs $75K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37776" y="2148840"/>
            <a:ext cx="2093976" cy="2788920"/>
          </a:xfrm>
          <a:prstGeom prst="roundRect">
            <a:avLst/>
          </a:prstGeom>
          <a:solidFill>
            <a:srgbClr val="2B4A72"/>
          </a:solidFill>
          <a:ln w="12700">
            <a:solidFill>
              <a:srgbClr val="335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637776" y="2148840"/>
            <a:ext cx="2093976" cy="8229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37776" y="2441448"/>
            <a:ext cx="2093976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8FBDEC"/>
                </a:solidFill>
                <a:latin typeface="Calibri"/>
              </a:rPr>
              <a:t>HEADCOUNT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776" y="3108960"/>
            <a:ext cx="2093976" cy="9144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20656" y="4142232"/>
            <a:ext cx="1728216" cy="18288"/>
          </a:xfrm>
          <a:prstGeom prst="rect">
            <a:avLst/>
          </a:prstGeom>
          <a:solidFill>
            <a:srgbClr val="335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37776" y="4297680"/>
            <a:ext cx="2093976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8FBDEC"/>
                </a:solidFill>
                <a:latin typeface="Calibri"/>
              </a:rPr>
              <a:t>● 12 planned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19088"/>
            <a:ext cx="457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29000" y="0"/>
            <a:ext cx="45720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27432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4A90D9"/>
                </a:solidFill>
                <a:latin typeface="Calibri"/>
              </a:rPr>
              <a:t>SECTION 02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2926080" cy="12801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7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Revenue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2606040" cy="32004"/>
          </a:xfrm>
          <a:prstGeom prst="rect">
            <a:avLst/>
          </a:prstGeom>
          <a:solidFill>
            <a:srgbClr val="335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274320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400" b="1">
                <a:solidFill>
                  <a:srgbClr val="8FBDEC"/>
                </a:solidFill>
                <a:latin typeface="Calibri"/>
              </a:rPr>
              <a:t>$574K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40680"/>
            <a:ext cx="27432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C9D6E8"/>
                </a:solidFill>
                <a:latin typeface="Calibri"/>
              </a:rPr>
              <a:t>closed  ·  7 deals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2743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8FBDEC"/>
                </a:solidFill>
                <a:latin typeface="Calibri"/>
              </a:rPr>
              <a:t>Aethon  ·  Monthly Pipeline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6419088"/>
            <a:ext cx="50292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57200"/>
            <a:ext cx="809244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Revenue Performance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60" y="1078992"/>
            <a:ext cx="1463040" cy="8229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94760" y="1325880"/>
            <a:ext cx="8092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600" b="1">
                <a:solidFill>
                  <a:srgbClr val="4A90D9"/>
                </a:solidFill>
                <a:latin typeface="Calibri"/>
              </a:rPr>
              <a:t>▪  </a:t>
            </a:r>
            <a:r>
              <a:rPr sz="1600">
                <a:solidFill>
                  <a:srgbClr val="242A33"/>
                </a:solidFill>
                <a:latin typeface="Calibri"/>
              </a:rPr>
              <a:t>December closed $574K across 7 deals — slightly below the $600K monthly run rate, within range.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600" b="1">
                <a:solidFill>
                  <a:srgbClr val="4A90D9"/>
                </a:solidFill>
                <a:latin typeface="Calibri"/>
              </a:rPr>
              <a:t>▪  </a:t>
            </a:r>
            <a:r>
              <a:rPr sz="1600">
                <a:solidFill>
                  <a:srgbClr val="242A33"/>
                </a:solidFill>
                <a:latin typeface="Calibri"/>
              </a:rPr>
              <a:t>Revenue mix: new-logo 65% ($373K); expansion / renewal 35% ($201K).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600" b="1">
                <a:solidFill>
                  <a:srgbClr val="4A90D9"/>
                </a:solidFill>
                <a:latin typeface="Calibri"/>
              </a:rPr>
              <a:t>▪  </a:t>
            </a:r>
            <a:r>
              <a:rPr sz="1600">
                <a:solidFill>
                  <a:srgbClr val="242A33"/>
                </a:solidFill>
                <a:latin typeface="Calibri"/>
              </a:rPr>
              <a:t>By rep: Felix closed $340K (4 deals, enterprise); Ana closed $234K (3 deals, mid-market).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600" b="1">
                <a:solidFill>
                  <a:srgbClr val="4A90D9"/>
                </a:solidFill>
                <a:latin typeface="Calibri"/>
              </a:rPr>
              <a:t>▪  </a:t>
            </a:r>
            <a:r>
              <a:rPr sz="1600">
                <a:solidFill>
                  <a:srgbClr val="242A33"/>
                </a:solidFill>
                <a:latin typeface="Calibri"/>
              </a:rPr>
              <a:t>Both reps on track for Q1 quota (team $2.4M; Felix $1.4M, Ana $1.0M).</a:t>
            </a:r>
          </a:p>
        </p:txBody>
      </p:sp>
      <p:pic>
        <p:nvPicPr>
          <p:cNvPr id="15" name="Picture 14" descr="aethon-prior-revenue-Feb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4297680"/>
            <a:ext cx="6766560" cy="19303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29000" y="0"/>
            <a:ext cx="45720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27432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4A90D9"/>
                </a:solidFill>
                <a:latin typeface="Calibri"/>
              </a:rPr>
              <a:t>SECTION 03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2926080" cy="12801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7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Pipeline Health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2606040" cy="32004"/>
          </a:xfrm>
          <a:prstGeom prst="rect">
            <a:avLst/>
          </a:prstGeom>
          <a:solidFill>
            <a:srgbClr val="335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274320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400" b="1">
                <a:solidFill>
                  <a:srgbClr val="8FBDEC"/>
                </a:solidFill>
                <a:latin typeface="Calibri"/>
              </a:rPr>
              <a:t>$2.8M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40680"/>
            <a:ext cx="27432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C9D6E8"/>
                </a:solidFill>
                <a:latin typeface="Calibri"/>
              </a:rPr>
              <a:t>open  ·  22 deals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2743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8FBDEC"/>
                </a:solidFill>
                <a:latin typeface="Calibri"/>
              </a:rPr>
              <a:t>Aethon  ·  Monthly Pipeline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6419088"/>
            <a:ext cx="50292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57200"/>
            <a:ext cx="809244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Pipeline Health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60" y="1078992"/>
            <a:ext cx="1463040" cy="8229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94760" y="1325880"/>
            <a:ext cx="8092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700" b="1">
                <a:solidFill>
                  <a:srgbClr val="4A90D9"/>
                </a:solidFill>
                <a:latin typeface="Calibri"/>
              </a:rPr>
              <a:t>▪  </a:t>
            </a:r>
            <a:r>
              <a:rPr sz="1700">
                <a:solidFill>
                  <a:srgbClr val="242A33"/>
                </a:solidFill>
                <a:latin typeface="Calibri"/>
              </a:rPr>
              <a:t>Open pipeline $2.8M across 22 deals; coverage ratio 1.75× vs the 3× target.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700" b="1">
                <a:solidFill>
                  <a:srgbClr val="4A90D9"/>
                </a:solidFill>
                <a:latin typeface="Calibri"/>
              </a:rPr>
              <a:t>▪  </a:t>
            </a:r>
            <a:r>
              <a:rPr sz="1700">
                <a:solidFill>
                  <a:srgbClr val="242A33"/>
                </a:solidFill>
                <a:latin typeface="Calibri"/>
              </a:rPr>
              <a:t>January pipeline creation was soft; addressing with increased outbound.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700" b="1">
                <a:solidFill>
                  <a:srgbClr val="4A90D9"/>
                </a:solidFill>
                <a:latin typeface="Calibri"/>
              </a:rPr>
              <a:t>▪  </a:t>
            </a:r>
            <a:r>
              <a:rPr sz="1700">
                <a:solidFill>
                  <a:srgbClr val="242A33"/>
                </a:solidFill>
                <a:latin typeface="Calibri"/>
              </a:rPr>
              <a:t>Territory: Felix covers East + West enterprise; Ana covers West mid-market.</a:t>
            </a:r>
          </a:p>
        </p:txBody>
      </p:sp>
      <p:pic>
        <p:nvPicPr>
          <p:cNvPr id="15" name="Picture 14" descr="aethon-prior-pipeline-Feb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2743200"/>
            <a:ext cx="8046720" cy="29971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29000" y="0"/>
            <a:ext cx="45720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27432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4A90D9"/>
                </a:solidFill>
                <a:latin typeface="Calibri"/>
              </a:rPr>
              <a:t>SECTION 04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2926080" cy="12801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76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Forecast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2606040" cy="32004"/>
          </a:xfrm>
          <a:prstGeom prst="rect">
            <a:avLst/>
          </a:prstGeom>
          <a:solidFill>
            <a:srgbClr val="335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274320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400" b="1">
                <a:solidFill>
                  <a:srgbClr val="8FBDEC"/>
                </a:solidFill>
                <a:latin typeface="Calibri"/>
              </a:rPr>
              <a:t>$680K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40680"/>
            <a:ext cx="27432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C9D6E8"/>
                </a:solidFill>
                <a:latin typeface="Calibri"/>
              </a:rPr>
              <a:t>commit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2743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8FBDEC"/>
                </a:solidFill>
                <a:latin typeface="Calibri"/>
              </a:rPr>
              <a:t>Aethon  ·  Monthly Pipeline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6419088"/>
            <a:ext cx="50292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57200"/>
            <a:ext cx="809244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Forecast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60" y="1078992"/>
            <a:ext cx="1463040" cy="8229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94760" y="1371600"/>
            <a:ext cx="8092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4A90D9"/>
                </a:solidFill>
                <a:latin typeface="Calibri"/>
              </a:rPr>
              <a:t>▪  </a:t>
            </a:r>
            <a:r>
              <a:rPr sz="1800">
                <a:solidFill>
                  <a:srgbClr val="242A33"/>
                </a:solidFill>
                <a:latin typeface="Calibri"/>
              </a:rPr>
              <a:t>Commit: $680K (Pinnacle Industries $340K + two mid-size deals).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4A90D9"/>
                </a:solidFill>
                <a:latin typeface="Calibri"/>
              </a:rPr>
              <a:t>▪  </a:t>
            </a:r>
            <a:r>
              <a:rPr sz="1800">
                <a:solidFill>
                  <a:srgbClr val="242A33"/>
                </a:solidFill>
                <a:latin typeface="Calibri"/>
              </a:rPr>
              <a:t>Best case: $1.1M (Pinnacle, Summit, and three mid-market opportunities).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4A90D9"/>
                </a:solidFill>
                <a:latin typeface="Calibri"/>
              </a:rPr>
              <a:t>▪  </a:t>
            </a:r>
            <a:r>
              <a:rPr sz="1800">
                <a:solidFill>
                  <a:srgbClr val="242A33"/>
                </a:solidFill>
                <a:latin typeface="Calibri"/>
              </a:rPr>
              <a:t>Pinnacle Industries ($340K) is the largest commit deal — verbal commitment received from VP Procurement; contract expected by end of February.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29000" y="0"/>
            <a:ext cx="45720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27432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4A90D9"/>
                </a:solidFill>
                <a:latin typeface="Calibri"/>
              </a:rPr>
              <a:t>SECTION 05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2926080" cy="12801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76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Win/Loss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2606040" cy="32004"/>
          </a:xfrm>
          <a:prstGeom prst="rect">
            <a:avLst/>
          </a:prstGeom>
          <a:solidFill>
            <a:srgbClr val="335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274320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400" b="1">
                <a:solidFill>
                  <a:srgbClr val="8FBDEC"/>
                </a:solidFill>
                <a:latin typeface="Calibri"/>
              </a:rPr>
              <a:t>32%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40680"/>
            <a:ext cx="27432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C9D6E8"/>
                </a:solidFill>
                <a:latin typeface="Calibri"/>
              </a:rPr>
              <a:t>win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2743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8FBDEC"/>
                </a:solidFill>
                <a:latin typeface="Calibri"/>
              </a:rPr>
              <a:t>Aethon  ·  Monthly Pipeline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6419088"/>
            <a:ext cx="50292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57200"/>
            <a:ext cx="809244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Win/Loss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60" y="1078992"/>
            <a:ext cx="1463040" cy="8229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94760" y="1371600"/>
            <a:ext cx="8092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4A90D9"/>
                </a:solidFill>
                <a:latin typeface="Calibri"/>
              </a:rPr>
              <a:t>▪  </a:t>
            </a:r>
            <a:r>
              <a:rPr sz="1800">
                <a:solidFill>
                  <a:srgbClr val="242A33"/>
                </a:solidFill>
                <a:latin typeface="Calibri"/>
              </a:rPr>
              <a:t>Win rate held steady at 32% in December.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4A90D9"/>
                </a:solidFill>
                <a:latin typeface="Calibri"/>
              </a:rPr>
              <a:t>▪  </a:t>
            </a:r>
            <a:r>
              <a:rPr sz="1800">
                <a:solidFill>
                  <a:srgbClr val="242A33"/>
                </a:solidFill>
                <a:latin typeface="Calibri"/>
              </a:rPr>
              <a:t>One loss to Meridian Platform noted; monitoring competitive activity, but no pattern yet.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29000" y="0"/>
            <a:ext cx="45720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27432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4A90D9"/>
                </a:solidFill>
                <a:latin typeface="Calibri"/>
              </a:rPr>
              <a:t>SECTION 06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2926080" cy="12801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76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Marketing &amp; Lead Source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2606040" cy="32004"/>
          </a:xfrm>
          <a:prstGeom prst="rect">
            <a:avLst/>
          </a:prstGeom>
          <a:solidFill>
            <a:srgbClr val="335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274320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400" b="1">
                <a:solidFill>
                  <a:srgbClr val="8FBDEC"/>
                </a:solidFill>
                <a:latin typeface="Calibri"/>
              </a:rPr>
              <a:t>36%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40680"/>
            <a:ext cx="27432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C9D6E8"/>
                </a:solidFill>
                <a:latin typeface="Calibri"/>
              </a:rPr>
              <a:t>marketing-sourced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2743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8FBDEC"/>
                </a:solidFill>
                <a:latin typeface="Calibri"/>
              </a:rPr>
              <a:t>Aethon  ·  Monthly Pipeline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6419088"/>
            <a:ext cx="50292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57200"/>
            <a:ext cx="809244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Marketing &amp; Lead 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60" y="1078992"/>
            <a:ext cx="1463040" cy="8229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94760" y="1371600"/>
            <a:ext cx="8092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4A90D9"/>
                </a:solidFill>
                <a:latin typeface="Calibri"/>
              </a:rPr>
              <a:t>▪  </a:t>
            </a:r>
            <a:r>
              <a:rPr sz="1800">
                <a:solidFill>
                  <a:srgbClr val="242A33"/>
                </a:solidFill>
                <a:latin typeface="Calibri"/>
              </a:rPr>
              <a:t>Marketing-sourced pipeline was 36% of total in December.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4A90D9"/>
                </a:solidFill>
                <a:latin typeface="Calibri"/>
              </a:rPr>
              <a:t>▪  </a:t>
            </a:r>
            <a:r>
              <a:rPr sz="1800">
                <a:solidFill>
                  <a:srgbClr val="242A33"/>
                </a:solidFill>
                <a:latin typeface="Calibri"/>
              </a:rPr>
              <a:t>The Q1 Workforce Analytics Webinar campaign launched mid-month; early results promising.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29000" y="0"/>
            <a:ext cx="45720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27432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4A90D9"/>
                </a:solidFill>
                <a:latin typeface="Calibri"/>
              </a:rPr>
              <a:t>SECTION 07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2926080" cy="12801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76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Asks &amp; Blockers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2606040" cy="32004"/>
          </a:xfrm>
          <a:prstGeom prst="rect">
            <a:avLst/>
          </a:prstGeom>
          <a:solidFill>
            <a:srgbClr val="335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274320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400" b="1">
                <a:solidFill>
                  <a:srgbClr val="8FBDEC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40680"/>
            <a:ext cx="27432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C9D6E8"/>
                </a:solidFill>
                <a:latin typeface="Calibri"/>
              </a:rPr>
              <a:t>open 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2743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8FBDEC"/>
                </a:solidFill>
                <a:latin typeface="Calibri"/>
              </a:rPr>
              <a:t>Aethon  ·  Monthly Pipeline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6419088"/>
            <a:ext cx="50292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57200"/>
            <a:ext cx="809244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Asks &amp; Blockers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60" y="1078992"/>
            <a:ext cx="1463040" cy="8229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94760" y="1371600"/>
            <a:ext cx="8092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4A90D9"/>
                </a:solidFill>
                <a:latin typeface="Calibri"/>
              </a:rPr>
              <a:t>▪  </a:t>
            </a:r>
            <a:r>
              <a:rPr sz="1800">
                <a:solidFill>
                  <a:srgbClr val="242A33"/>
                </a:solidFill>
                <a:latin typeface="Calibri"/>
              </a:rPr>
              <a:t>Pipeline coverage is thin — requesting marketing increase LinkedIn spend for Q1.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4A90D9"/>
                </a:solidFill>
                <a:latin typeface="Calibri"/>
              </a:rPr>
              <a:t>▪  </a:t>
            </a:r>
            <a:r>
              <a:rPr sz="1800">
                <a:solidFill>
                  <a:srgbClr val="242A33"/>
                </a:solidFill>
                <a:latin typeface="Calibri"/>
              </a:rPr>
              <a:t>Sales-tool evaluation underway — decision expected by mid-February.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29000" y="0"/>
            <a:ext cx="45720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27432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4A90D9"/>
                </a:solidFill>
                <a:latin typeface="Calibri"/>
              </a:rPr>
              <a:t>SECTION 08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2926080" cy="12801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76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Risks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2606040" cy="32004"/>
          </a:xfrm>
          <a:prstGeom prst="rect">
            <a:avLst/>
          </a:prstGeom>
          <a:solidFill>
            <a:srgbClr val="335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274320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400" b="1">
                <a:solidFill>
                  <a:srgbClr val="8FBDEC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40680"/>
            <a:ext cx="27432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C9D6E8"/>
                </a:solidFill>
                <a:latin typeface="Calibri"/>
              </a:rPr>
              <a:t>tracked 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2743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8FBDEC"/>
                </a:solidFill>
                <a:latin typeface="Calibri"/>
              </a:rPr>
              <a:t>Aethon  ·  Monthly Pipeline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6419088"/>
            <a:ext cx="50292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57200"/>
            <a:ext cx="809244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Risks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60" y="1078992"/>
            <a:ext cx="1463040" cy="8229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94760" y="1371600"/>
            <a:ext cx="8092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4A90D9"/>
                </a:solidFill>
                <a:latin typeface="Calibri"/>
              </a:rPr>
              <a:t>▪  </a:t>
            </a:r>
            <a:r>
              <a:rPr sz="1800">
                <a:solidFill>
                  <a:srgbClr val="242A33"/>
                </a:solidFill>
                <a:latin typeface="Calibri"/>
              </a:rPr>
              <a:t>Pipeline coverage below 3× target. If January creation doesn't improve, Q1 quota attainment is at risk.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4A90D9"/>
                </a:solidFill>
                <a:latin typeface="Calibri"/>
              </a:rPr>
              <a:t>▪  </a:t>
            </a:r>
            <a:r>
              <a:rPr sz="1800">
                <a:solidFill>
                  <a:srgbClr val="242A33"/>
                </a:solidFill>
                <a:latin typeface="Calibri"/>
              </a:rPr>
              <a:t>One competitive loss to Meridian Platform. Not yet a pattern, but worth watching.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4</cp:revision>
  <dcterms:created xsi:type="dcterms:W3CDTF">2013-01-27T09:14:16Z</dcterms:created>
  <dcterms:modified xsi:type="dcterms:W3CDTF">2026-06-29T07:02:12Z</dcterms:modified>
  <cp:category/>
</cp:coreProperties>
</file>